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000" b="1"/>
            </a:pPr>
            <a:r>
              <a:t>Deep Q-Network Agent for Crafter Environment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292608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/>
            </a:pPr>
            <a:r>
              <a:t>Systematic Investigation of DQN Enhancements and Exploration Strategies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11480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/>
            </a:pPr>
            <a:r>
              <a:t>[Your Names Here]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75488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/>
            </a:pPr>
            <a:r>
              <a:t>November 2025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5486400"/>
            <a:ext cx="6400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i="1"/>
            </a:pPr>
            <a:r>
              <a:t>✓ 4.90 reward vs -0.90 random (5.4× better)  •  ✓ 10/22 achievements  •  ✓ Double DQN + Dueling = optimal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3366"/>
                </a:solidFill>
              </a:defRPr>
            </a:pPr>
            <a:r>
              <a:t>The Crafter Challenge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4114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2000" b="1"/>
            </a:pPr>
            <a:r>
              <a:t>Environment Specifications:</a:t>
            </a:r>
          </a:p>
          <a:p>
            <a:pPr lvl="1">
              <a:defRPr sz="1600" b="0"/>
            </a:pPr>
            <a:r>
              <a:t>64×64×3 RGB observations</a:t>
            </a:r>
          </a:p>
          <a:p>
            <a:pPr lvl="1">
              <a:defRPr sz="1600" b="0"/>
            </a:pPr>
            <a:r>
              <a:t>17 discrete actions</a:t>
            </a:r>
          </a:p>
          <a:p>
            <a:pPr lvl="1">
              <a:defRPr sz="1600" b="0"/>
            </a:pPr>
            <a:r>
              <a:t>22 achievements</a:t>
            </a:r>
          </a:p>
          <a:p>
            <a:pPr lvl="1">
              <a:defRPr sz="1600" b="0"/>
            </a:pPr>
            <a:r>
              <a:t>1M step budget</a:t>
            </a:r>
          </a:p>
          <a:p>
            <a:pPr lvl="1">
              <a:defRPr sz="1600" b="0"/>
            </a:pPr>
            <a:r>
              <a:t>Procedurally generated maps</a:t>
            </a:r>
          </a:p>
          <a:p/>
          <a:p>
            <a:pPr>
              <a:defRPr sz="2000" b="1"/>
            </a:pPr>
            <a:r>
              <a:t>Key Challenges:</a:t>
            </a:r>
          </a:p>
          <a:p>
            <a:pPr lvl="1">
              <a:defRPr sz="1600" b="0"/>
            </a:pPr>
            <a:r>
              <a:t>Sparse Rewards</a:t>
            </a:r>
          </a:p>
          <a:p>
            <a:pPr lvl="1">
              <a:defRPr sz="1600" b="0"/>
            </a:pPr>
            <a:r>
              <a:t>Credit Assignment</a:t>
            </a:r>
          </a:p>
          <a:p>
            <a:pPr lvl="1">
              <a:defRPr sz="1600" b="0"/>
            </a:pPr>
            <a:r>
              <a:t>Exploration</a:t>
            </a:r>
          </a:p>
          <a:p>
            <a:pPr lvl="1">
              <a:defRPr sz="1600" b="0"/>
            </a:pPr>
            <a:r>
              <a:t>Long Episodes (150-200 steps)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754880" y="1828800"/>
            <a:ext cx="36576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800" b="1"/>
            </a:pPr>
            <a:r>
              <a:t>Random Baseline:</a:t>
            </a:r>
          </a:p>
          <a:p>
            <a:pPr lvl="1">
              <a:defRPr sz="1600" b="0"/>
            </a:pPr>
            <a:r>
              <a:t>-0.90 ± 0.00 reward</a:t>
            </a:r>
          </a:p>
          <a:p>
            <a:pPr lvl="1">
              <a:defRPr sz="1600" b="0"/>
            </a:pPr>
            <a:r>
              <a:t>0/22 achievements</a:t>
            </a:r>
          </a:p>
          <a:p>
            <a:pPr lvl="1">
              <a:defRPr sz="1600" b="0"/>
            </a:pPr>
            <a:r>
              <a:t>0% Crafter Score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3366"/>
                </a:solidFill>
              </a:defRPr>
            </a:pPr>
            <a:r>
              <a:t>Method: Enhanced DQN 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82296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800" b="1"/>
            </a:pPr>
            <a:r>
              <a:t>Base DQN Loss Function:</a:t>
            </a:r>
          </a:p>
          <a:p>
            <a:pPr lvl="1">
              <a:defRPr sz="1400" b="0"/>
            </a:pPr>
            <a:r>
              <a:t>L(θ) = E[(r + γ · max Q_target(s', a') - Q(s, a))²]</a:t>
            </a:r>
          </a:p>
          <a:p/>
          <a:p>
            <a:pPr>
              <a:defRPr sz="1800" b="1"/>
            </a:pPr>
            <a:r>
              <a:t>Enhancement 1: Double DQN</a:t>
            </a:r>
          </a:p>
          <a:p>
            <a:pPr lvl="1">
              <a:defRPr sz="1400" b="0"/>
            </a:pPr>
            <a:r>
              <a:t>L(θ) = E[(r + γ · Q_target(s', argmax Q(s', a')) - Q(s, a))²]</a:t>
            </a:r>
          </a:p>
          <a:p>
            <a:pPr lvl="1">
              <a:defRPr sz="1400" b="0"/>
            </a:pPr>
            <a:r>
              <a:t>Why? Decouples action selection from evaluation → reduces overestimation bias</a:t>
            </a:r>
          </a:p>
          <a:p/>
          <a:p>
            <a:pPr>
              <a:defRPr sz="1800" b="1"/>
            </a:pPr>
            <a:r>
              <a:t>Enhancement 2: Dueling Architecture</a:t>
            </a:r>
          </a:p>
          <a:p>
            <a:pPr lvl="1">
              <a:defRPr sz="1400" b="0"/>
            </a:pPr>
            <a:r>
              <a:t>Q(s, a) = V(s) + [A(s, a) - mean A(s, a')]</a:t>
            </a:r>
          </a:p>
          <a:p>
            <a:pPr lvl="1">
              <a:defRPr sz="1400" b="0"/>
            </a:pPr>
            <a:r>
              <a:t>Why? Separates state value from action advantage → better value estimates</a:t>
            </a:r>
          </a:p>
          <a:p/>
          <a:p>
            <a:pPr>
              <a:defRPr sz="1800" b="1"/>
            </a:pPr>
            <a:r>
              <a:t>Enhancement 3: N-Step Returns (n=1, 3, 5)</a:t>
            </a:r>
          </a:p>
          <a:p>
            <a:pPr lvl="1">
              <a:defRPr sz="1400" b="0"/>
            </a:pPr>
            <a:r>
              <a:t>R_t^(n) = Σ γ^i · r_{t+i} + γ^n · max Q(s_{t+n}, a)</a:t>
            </a:r>
          </a:p>
          <a:p>
            <a:pPr lvl="1">
              <a:defRPr sz="1400" b="0"/>
            </a:pPr>
            <a:r>
              <a:t>Why? Faster propagation of sparse rewards → better credit assignment</a:t>
            </a:r>
          </a:p>
          <a:p/>
          <a:p>
            <a:pPr>
              <a:defRPr sz="1200" b="0"/>
            </a:pPr>
            <a:r>
              <a:t>Hyperparameters: LR=1e-4, Buffer=100k, Batch=32, Target Update=2500 steps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3366"/>
                </a:solidFill>
              </a:defRPr>
            </a:pPr>
            <a:r>
              <a:t>Ablation Study: Which Enhancements Matter?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371600"/>
          <a:ext cx="8229600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1828800"/>
                <a:gridCol w="1828800"/>
                <a:gridCol w="1828800"/>
              </a:tblGrid>
              <a:tr h="587828">
                <a:tc>
                  <a:txBody>
                    <a:bodyPr/>
                    <a:lstStyle/>
                    <a:p>
                      <a:pPr>
                        <a:defRPr b="1" sz="1400">
                          <a:solidFill>
                            <a:srgbClr val="FFFFFF"/>
                          </a:solidFill>
                        </a:defRPr>
                      </a:pPr>
                      <a:r>
                        <a:t>Configuration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400">
                          <a:solidFill>
                            <a:srgbClr val="FFFFFF"/>
                          </a:solidFill>
                        </a:defRPr>
                      </a:pPr>
                      <a:r>
                        <a:t>Final Reward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400">
                          <a:solidFill>
                            <a:srgbClr val="FFFFFF"/>
                          </a:solidFill>
                        </a:defRPr>
                      </a:pPr>
                      <a:r>
                        <a:t>Crafter Score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400">
                          <a:solidFill>
                            <a:srgbClr val="FFFFFF"/>
                          </a:solidFill>
                        </a:defRPr>
                      </a:pPr>
                      <a:r>
                        <a:t>Achievements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</a:tr>
              <a:tr h="587828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Random Baseline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-0.90 ± 0.00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0.00%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0.0 ± 0.0</a:t>
                      </a:r>
                    </a:p>
                  </a:txBody>
                  <a:tcPr/>
                </a:tc>
              </a:tr>
              <a:tr h="587828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Base DQN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4.17 ± 0.10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30.65%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8.3 ± 0.5</a:t>
                      </a:r>
                    </a:p>
                  </a:txBody>
                  <a:tcPr/>
                </a:tc>
              </a:tr>
              <a:tr h="587828">
                <a:tc>
                  <a:txBody>
                    <a:bodyPr/>
                    <a:lstStyle/>
                    <a:p>
                      <a:pPr>
                        <a:defRPr sz="1200" b="1"/>
                      </a:pPr>
                      <a:r>
                        <a:t>+ Double + Dueling ⭐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4.90 ± 0.16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32.91%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8.0 ± 0.0</a:t>
                      </a:r>
                    </a:p>
                  </a:txBody>
                  <a:tcPr/>
                </a:tc>
              </a:tr>
              <a:tr h="587828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+ N-step (n=3)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4.48 ± 0.16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30.23%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8.7 ± 0.9</a:t>
                      </a:r>
                    </a:p>
                  </a:txBody>
                  <a:tcPr/>
                </a:tc>
              </a:tr>
              <a:tr h="587828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+ N-step (n=5)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4.00 ± 0.19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26.82%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8.7 ± 1.2</a:t>
                      </a:r>
                    </a:p>
                  </a:txBody>
                  <a:tcPr/>
                </a:tc>
              </a:tr>
              <a:tr h="587832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All Enhancements*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2.37 ± 0.06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43.70%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4.7 ± 0.5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457200" y="566928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i="1"/>
            </a:pPr>
            <a:r>
              <a:t>Note: All results averaged over 3 seeds (0, 1, 2) at 1M steps. *Includes Munchausen-DQN (showed instability)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3366"/>
                </a:solidFill>
              </a:defRPr>
            </a:pPr>
            <a:r>
              <a:t>Exploration Experiment: Does Longer Help?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82296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600" b="1"/>
            </a:pPr>
            <a:r>
              <a:t>Hypothesis: Extended epsilon-greedy exploration will help agent discover more strategies</a:t>
            </a:r>
          </a:p>
          <a:p>
            <a:pPr lvl="1">
              <a:defRPr sz="1400" b="0"/>
            </a:pPr>
            <a:r>
              <a:t>Standard Schedule: Decay ε from 1.0 to 0.01 over 50,000 steps (5% of training)</a:t>
            </a:r>
          </a:p>
          <a:p>
            <a:pPr lvl="1">
              <a:defRPr sz="1400" b="0"/>
            </a:pPr>
            <a:r>
              <a:t>Extended Schedule: Decay ε from 1.0 to 0.05 over 200,000 steps (20% of training)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3200400"/>
          <a:ext cx="8229600" cy="228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57400"/>
                <a:gridCol w="2057400"/>
                <a:gridCol w="2057400"/>
                <a:gridCol w="2057400"/>
              </a:tblGrid>
              <a:tr h="571500">
                <a:tc>
                  <a:txBody>
                    <a:bodyPr/>
                    <a:lstStyle/>
                    <a:p>
                      <a:pPr>
                        <a:defRPr b="1" sz="1200"/>
                      </a:pPr>
                      <a:r>
                        <a:t>Configuration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b="1" sz="1200"/>
                      </a:pPr>
                      <a:r>
                        <a:t>Standard (50k ε)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b="1" sz="1200"/>
                      </a:pPr>
                      <a:r>
                        <a:t>Extended (200k ε)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b="1" sz="1200"/>
                      </a:pPr>
                      <a:r>
                        <a:t>Change</a:t>
                      </a:r>
                    </a:p>
                  </a:txBody>
                  <a:tcPr/>
                </a:tc>
              </a:tr>
              <a:tr h="571500"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Base DQN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4.17 ± 0.10 ⭐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3.53 ± 0.77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-15% ❌</a:t>
                      </a:r>
                    </a:p>
                  </a:txBody>
                  <a:tcPr/>
                </a:tc>
              </a:tr>
              <a:tr h="571500"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Enhanced DQN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4.90 ± 0.16 ⭐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4.33 ± 0.16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-12% ❌</a:t>
                      </a:r>
                    </a:p>
                  </a:txBody>
                  <a:tcPr/>
                </a:tc>
              </a:tr>
              <a:tr h="571500"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Key Finding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Well-calibrated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Higher variance (7.7×)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Longer ≠ Better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457200" y="57607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CC0000"/>
                </a:solidFill>
              </a:defRPr>
            </a:pPr>
            <a:r>
              <a:t>Finding: Extended exploration DECREASED performance. Standard 50k decay is well-calibrated!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3366"/>
                </a:solidFill>
              </a:defRPr>
            </a:pPr>
            <a:r>
              <a:t>Training Dynamics: Best Agent Performance</a:t>
            </a:r>
          </a:p>
        </p:txBody>
      </p:sp>
      <p:pic>
        <p:nvPicPr>
          <p:cNvPr id="3" name="Picture 2" descr="reward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371600"/>
            <a:ext cx="8229600" cy="2699618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576072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400" b="1"/>
            </a:pPr>
            <a:r>
              <a:t>Enhanced DQN: 4.90 ± 0.16 reward (avg over 3 seeds) | Random: -0.90</a:t>
            </a:r>
          </a:p>
          <a:p>
            <a:pPr>
              <a:defRPr sz="1100" b="0"/>
            </a:pPr>
            <a:r>
              <a:t>MANDATORY PLOT: Average episodic reward showing training &amp; evaluation performance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3366"/>
                </a:solidFill>
              </a:defRPr>
            </a:pPr>
            <a:r>
              <a:t>Achievement Spectrum Analysis (BONUS)</a:t>
            </a:r>
          </a:p>
        </p:txBody>
      </p:sp>
      <p:pic>
        <p:nvPicPr>
          <p:cNvPr id="3" name="Picture 2" descr="achievement_spectru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371600"/>
            <a:ext cx="7315200" cy="5828992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57607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/>
            </a:pPr>
            <a:r>
              <a:t>Summary: 10/22 achievements unlocked (45%) | Crafter Score: 32.91% | Gap to Human: 50% vs 33%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3366"/>
                </a:solidFill>
              </a:defRPr>
            </a:pPr>
            <a:r>
              <a:t>Training Metrics Deep Dive</a:t>
            </a:r>
          </a:p>
        </p:txBody>
      </p:sp>
      <p:pic>
        <p:nvPicPr>
          <p:cNvPr id="3" name="Picture 2" descr="training_metric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188720"/>
            <a:ext cx="8595360" cy="4270325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594360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/>
            </a:pPr>
            <a:r>
              <a:t>Loss converges to ~0.014 | Q-values stabilize at 3-5 | Training shows stable dynamics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3366"/>
                </a:solidFill>
              </a:defRPr>
            </a:pPr>
            <a:r>
              <a:t>Emergent Behaviors &amp; Observations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4114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800" b="1"/>
            </a:pPr>
            <a:r>
              <a:t>✅ Successful Strategies:</a:t>
            </a:r>
          </a:p>
          <a:p>
            <a:pPr lvl="1">
              <a:defRPr sz="1400" b="0"/>
            </a:pPr>
            <a:r>
              <a:t>Resource gathering prioritization</a:t>
            </a:r>
          </a:p>
          <a:p>
            <a:pPr lvl="1">
              <a:defRPr sz="1400" b="0"/>
            </a:pPr>
            <a:r>
              <a:t>Food management when low health</a:t>
            </a:r>
          </a:p>
          <a:p>
            <a:pPr lvl="1">
              <a:defRPr sz="1400" b="0"/>
            </a:pPr>
            <a:r>
              <a:t>Day/night adaptation (avoids zombies)</a:t>
            </a:r>
          </a:p>
          <a:p>
            <a:pPr lvl="1">
              <a:defRPr sz="1400" b="0"/>
            </a:pPr>
            <a:r>
              <a:t>Tool progression (wood tools)</a:t>
            </a:r>
          </a:p>
          <a:p>
            <a:pPr lvl="1">
              <a:defRPr sz="1400" b="0"/>
            </a:pPr>
            <a:r>
              <a:t>Infrastructure placement (tables)</a:t>
            </a:r>
          </a:p>
          <a:p/>
          <a:p>
            <a:pPr>
              <a:defRPr sz="1800" b="1"/>
            </a:pPr>
            <a:r>
              <a:t>🔍 Interesting Observations:</a:t>
            </a:r>
          </a:p>
          <a:p>
            <a:pPr lvl="1">
              <a:defRPr sz="1400" b="0"/>
            </a:pPr>
            <a:r>
              <a:t>Implicit recipe learning (no reward shaping)</a:t>
            </a:r>
          </a:p>
          <a:p>
            <a:pPr lvl="1">
              <a:defRPr sz="1400" b="0"/>
            </a:pPr>
            <a:r>
              <a:t>Risk avoidance (emerges from sparse penalty)</a:t>
            </a:r>
          </a:p>
          <a:p>
            <a:pPr lvl="1">
              <a:defRPr sz="1400" b="0"/>
            </a:pPr>
            <a:r>
              <a:t>Strategy diversity across seeds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754880" y="1097280"/>
            <a:ext cx="39319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800" b="1"/>
            </a:pPr>
            <a:r>
              <a:t>❌ Failure Modes:</a:t>
            </a:r>
          </a:p>
          <a:p>
            <a:pPr lvl="1">
              <a:defRPr sz="1400" b="0"/>
            </a:pPr>
            <a:r>
              <a:t>Gets stuck in corners (~10%)</a:t>
            </a:r>
          </a:p>
          <a:p>
            <a:pPr lvl="1">
              <a:defRPr sz="1400" b="0"/>
            </a:pPr>
            <a:r>
              <a:t>Doesn't prioritize rare achievements</a:t>
            </a:r>
          </a:p>
          <a:p>
            <a:pPr lvl="1">
              <a:defRPr sz="1400" b="0"/>
            </a:pPr>
            <a:r>
              <a:t>Struggles with multi-step planning</a:t>
            </a:r>
          </a:p>
          <a:p>
            <a:pPr lvl="1">
              <a:defRPr sz="1400" b="0"/>
            </a:pPr>
            <a:r>
              <a:t>Stone/iron tools require 5+ steps</a:t>
            </a:r>
          </a:p>
          <a:p>
            <a:pPr lvl="1">
              <a:defRPr sz="1400" b="0"/>
            </a:pPr>
            <a:r>
              <a:t>Limited cave exploration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3366"/>
                </a:solidFill>
              </a:defRPr>
            </a:pPr>
            <a:r>
              <a:t>Conclusions &amp; Future Work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4114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800" b="1"/>
            </a:pPr>
            <a:r>
              <a:t>✅ Key Achievements:</a:t>
            </a:r>
          </a:p>
          <a:p>
            <a:pPr lvl="1">
              <a:defRPr sz="1400" b="0"/>
            </a:pPr>
            <a:r>
              <a:t>Custom DQN from scratch</a:t>
            </a:r>
          </a:p>
          <a:p>
            <a:pPr lvl="1">
              <a:defRPr sz="1400" b="0"/>
            </a:pPr>
            <a:r>
              <a:t>4.90 vs -0.90 reward (5.4× better)</a:t>
            </a:r>
          </a:p>
          <a:p>
            <a:pPr lvl="1">
              <a:defRPr sz="1400" b="0"/>
            </a:pPr>
            <a:r>
              <a:t>10/22 achievements unlocked</a:t>
            </a:r>
          </a:p>
          <a:p>
            <a:pPr lvl="1">
              <a:defRPr sz="1400" b="0"/>
            </a:pPr>
            <a:r>
              <a:t>Double DQN + Dueling = optimal</a:t>
            </a:r>
          </a:p>
          <a:p>
            <a:pPr lvl="1">
              <a:defRPr sz="1400" b="0"/>
            </a:pPr>
            <a:r>
              <a:t>Stable across 3 seeds (±0.16)</a:t>
            </a:r>
          </a:p>
          <a:p/>
          <a:p>
            <a:pPr>
              <a:defRPr sz="1800" b="1"/>
            </a:pPr>
            <a:r>
              <a:t>💡 Key Insights:</a:t>
            </a:r>
          </a:p>
          <a:p>
            <a:pPr lvl="1">
              <a:defRPr sz="1400" b="0"/>
            </a:pPr>
            <a:r>
              <a:t>Exploration: 50k decay well-calibrated</a:t>
            </a:r>
          </a:p>
          <a:p>
            <a:pPr lvl="1">
              <a:defRPr sz="1400" b="0"/>
            </a:pPr>
            <a:r>
              <a:t>Longer exploration decreased performance</a:t>
            </a:r>
          </a:p>
          <a:p>
            <a:pPr lvl="1">
              <a:defRPr sz="1400" b="0"/>
            </a:pPr>
            <a:r>
              <a:t>Credit assignment = key challenge</a:t>
            </a:r>
          </a:p>
          <a:p>
            <a:pPr lvl="1">
              <a:defRPr sz="1400" b="0"/>
            </a:pPr>
            <a:r>
              <a:t>Simpler can be better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754880" y="1097280"/>
            <a:ext cx="39319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800" b="1"/>
            </a:pPr>
            <a:r>
              <a:t>🚀 Future Directions:</a:t>
            </a:r>
          </a:p>
          <a:p>
            <a:pPr lvl="1">
              <a:defRPr sz="1500" b="1"/>
            </a:pPr>
            <a:r>
              <a:t>Better Exploration:</a:t>
            </a:r>
          </a:p>
          <a:p>
            <a:pPr lvl="2">
              <a:defRPr sz="1300" b="0"/>
            </a:pPr>
            <a:r>
              <a:t>Intrinsic motivation (RND, NGU)</a:t>
            </a:r>
          </a:p>
          <a:p>
            <a:pPr lvl="2">
              <a:defRPr sz="1300" b="0"/>
            </a:pPr>
            <a:r>
              <a:t>NOT longer epsilon-greedy</a:t>
            </a:r>
          </a:p>
          <a:p/>
          <a:p>
            <a:pPr lvl="1">
              <a:defRPr sz="1500" b="1"/>
            </a:pPr>
            <a:r>
              <a:t>Hierarchical RL:</a:t>
            </a:r>
          </a:p>
          <a:p>
            <a:pPr lvl="2">
              <a:defRPr sz="1300" b="0"/>
            </a:pPr>
            <a:r>
              <a:t>Reusable sub-policies</a:t>
            </a:r>
          </a:p>
          <a:p/>
          <a:p>
            <a:pPr lvl="1">
              <a:defRPr sz="1500" b="1"/>
            </a:pPr>
            <a:r>
              <a:t>Model-Based RL:</a:t>
            </a:r>
          </a:p>
          <a:p>
            <a:pPr lvl="2">
              <a:defRPr sz="1300" b="0"/>
            </a:pPr>
            <a:r>
              <a:t>World models (DreamerV2)</a:t>
            </a:r>
          </a:p>
          <a:p/>
          <a:p>
            <a:pPr lvl="1">
              <a:defRPr sz="1500" b="1"/>
            </a:pPr>
            <a:r>
              <a:t>Curriculum Learning:</a:t>
            </a:r>
          </a:p>
          <a:p>
            <a:pPr lvl="2">
              <a:defRPr sz="1300" b="0"/>
            </a:pPr>
            <a:r>
              <a:t>Progressive achievement targets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3366"/>
                </a:solidFill>
              </a:defRPr>
            </a:pPr>
            <a:r>
              <a:t>Questions &amp; Discussion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828800" y="2286000"/>
            <a:ext cx="5486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800" b="1"/>
            </a:pPr>
            <a:r>
              <a:t>Thank You!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657600"/>
            <a:ext cx="73152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600" b="1"/>
            </a:pPr>
            <a:r>
              <a:t>Summary of Contributions:</a:t>
            </a:r>
          </a:p>
          <a:p>
            <a:pPr lvl="1">
              <a:defRPr sz="1400" b="0"/>
            </a:pPr>
            <a:r>
              <a:t>✅ Custom DQN implementation (no frameworks)</a:t>
            </a:r>
          </a:p>
          <a:p>
            <a:pPr lvl="1">
              <a:defRPr sz="1400" b="0"/>
            </a:pPr>
            <a:r>
              <a:t>✅ Systematic ablation study (6 configurations × 3 seeds)</a:t>
            </a:r>
          </a:p>
          <a:p>
            <a:pPr lvl="1">
              <a:defRPr sz="1400" b="0"/>
            </a:pPr>
            <a:r>
              <a:t>✅ Novel exploration experiment (valuable negative result)</a:t>
            </a:r>
          </a:p>
          <a:p>
            <a:pPr lvl="1">
              <a:defRPr sz="1400" b="0"/>
            </a:pPr>
            <a:r>
              <a:t>✅ Comprehensive evaluation (achievements + behaviors)</a:t>
            </a:r>
          </a:p>
          <a:p/>
          <a:p>
            <a:pPr algn="ctr">
              <a:defRPr sz="1600" b="1">
                <a:solidFill>
                  <a:srgbClr val="003366"/>
                </a:solidFill>
              </a:defRPr>
            </a:pPr>
            <a:r>
              <a:t>Key Takeaway: Systematic investigation beats guesswork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28800" y="621792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/>
            </a:pPr>
            <a:r>
              <a:t>Contact: [Your Email] | Code: [GitHub URL]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