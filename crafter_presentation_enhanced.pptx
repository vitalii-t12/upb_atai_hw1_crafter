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Deep Q-Network Agent for Crafter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0070C0"/>
                </a:solidFill>
              </a:defRPr>
            </a:pPr>
            <a:r>
              <a:t>Systematic Investigation of DQN Enhancements &amp; Exploration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[Your Names Here]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November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Advanced Topics in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Crafter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Environment:</a:t>
            </a:r>
          </a:p>
          <a:p>
            <a:pPr lvl="1">
              <a:defRPr sz="1600" b="0"/>
            </a:pPr>
            <a:r>
              <a:t>64×64×3 RGB pixels</a:t>
            </a:r>
          </a:p>
          <a:p>
            <a:pPr lvl="1">
              <a:defRPr sz="1600" b="0"/>
            </a:pPr>
            <a:r>
              <a:t>17 discrete actions</a:t>
            </a:r>
          </a:p>
          <a:p>
            <a:pPr lvl="1">
              <a:defRPr sz="1600" b="0"/>
            </a:pPr>
            <a:r>
              <a:t>22 achievements</a:t>
            </a:r>
          </a:p>
          <a:p>
            <a:pPr lvl="1">
              <a:defRPr sz="1600" b="0"/>
            </a:pPr>
            <a:r>
              <a:t>Procedurally generated</a:t>
            </a:r>
          </a:p>
          <a:p>
            <a:pPr lvl="1">
              <a:defRPr sz="1600" b="0"/>
            </a:pPr>
            <a:r>
              <a:t>1M step budget</a:t>
            </a:r>
          </a:p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Challenges:</a:t>
            </a:r>
          </a:p>
          <a:p>
            <a:pPr lvl="1">
              <a:defRPr sz="1600" b="0"/>
            </a:pPr>
            <a:r>
              <a:t>⚠️ Sparse rewards</a:t>
            </a:r>
          </a:p>
          <a:p>
            <a:pPr lvl="1">
              <a:defRPr sz="1600" b="0"/>
            </a:pPr>
            <a:r>
              <a:t>⚠️ Credit assignment</a:t>
            </a:r>
          </a:p>
          <a:p>
            <a:pPr lvl="1">
              <a:defRPr sz="1600" b="0"/>
            </a:pPr>
            <a:r>
              <a:t>⚠️ Exploration</a:t>
            </a:r>
          </a:p>
          <a:p>
            <a:pPr lvl="1">
              <a:defRPr sz="1600" b="0"/>
            </a:pPr>
            <a:r>
              <a:t>⚠️ Long episodes (150-200 steps)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CC0000"/>
                </a:solidFill>
              </a:defRPr>
            </a:pPr>
            <a:r>
              <a:t>Random Baseline:</a:t>
            </a:r>
          </a:p>
          <a:p>
            <a:pPr lvl="1">
              <a:defRPr sz="1600" b="0"/>
            </a:pPr>
            <a:r>
              <a:t>-0.90 ± 0.00 reward</a:t>
            </a:r>
          </a:p>
          <a:p>
            <a:pPr lvl="1">
              <a:defRPr sz="1600" b="0"/>
            </a:pPr>
            <a:r>
              <a:t>0/22 achievements</a:t>
            </a:r>
          </a:p>
          <a:p>
            <a:pPr lvl="1">
              <a:defRPr sz="1600" b="0"/>
            </a:pPr>
            <a:r>
              <a:t>0% Crafter Score</a:t>
            </a:r>
          </a:p>
          <a:p/>
          <a:p>
            <a:pPr>
              <a:defRPr sz="2000" b="1">
                <a:solidFill>
                  <a:srgbClr val="009900"/>
                </a:solidFill>
              </a:defRPr>
            </a:pPr>
            <a:r>
              <a:t>Our Approach:</a:t>
            </a:r>
          </a:p>
          <a:p>
            <a:pPr lvl="1">
              <a:defRPr sz="1600" b="0"/>
            </a:pPr>
            <a:r>
              <a:t>Systematic ablation study</a:t>
            </a:r>
          </a:p>
          <a:p>
            <a:pPr lvl="1">
              <a:defRPr sz="1600" b="0"/>
            </a:pPr>
            <a:r>
              <a:t>6 configurations tested</a:t>
            </a:r>
          </a:p>
          <a:p>
            <a:pPr lvl="1">
              <a:defRPr sz="1600" b="0"/>
            </a:pPr>
            <a:r>
              <a:t>3 seeds each (18 runs total)</a:t>
            </a:r>
          </a:p>
          <a:p>
            <a:pPr lvl="1">
              <a:defRPr sz="1600" b="0"/>
            </a:pPr>
            <a:r>
              <a:t>Custom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943600"/>
            <a:ext cx="2560320" cy="64008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Goal: Beat Random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5943600"/>
            <a:ext cx="2560320" cy="64008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Method: DQN + Enhancements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5943600"/>
            <a:ext cx="2560320" cy="640080"/>
          </a:xfrm>
          <a:prstGeom prst="roundRect">
            <a:avLst/>
          </a:prstGeom>
          <a:solidFill>
            <a:srgbClr val="009900"/>
          </a:solidFill>
          <a:ln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Result: 5.4×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Method: Enhanced DQN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003366"/>
                </a:solidFill>
              </a:defRPr>
            </a:pPr>
            <a:r>
              <a:t>Base Algorithm: Deep Q-Network (DQN)</a:t>
            </a:r>
          </a:p>
          <a:p>
            <a:pPr lvl="1">
              <a:defRPr sz="1500" b="0"/>
            </a:pPr>
            <a:r>
              <a:t>L(θ) = E[(r + γ · max Q_target(s', a') - Q(s, a))²]</a:t>
            </a:r>
          </a:p>
          <a:p>
            <a:pPr lvl="1">
              <a:defRPr sz="1400" b="0"/>
            </a:pPr>
            <a:r>
              <a:t>Learn Q-values for state-action pairs to maximize cumulative reward</a:t>
            </a:r>
          </a:p>
          <a:p/>
          <a:p>
            <a:pPr>
              <a:defRPr sz="2000" b="1">
                <a:solidFill>
                  <a:srgbClr val="0070C0"/>
                </a:solidFill>
              </a:defRPr>
            </a:pPr>
            <a:r>
              <a:t>Enhancement 1: Double DQN</a:t>
            </a:r>
          </a:p>
          <a:p>
            <a:pPr lvl="1">
              <a:defRPr sz="1400" b="0"/>
            </a:pPr>
            <a:r>
              <a:t>L(θ) = E[(r + γ · Q_target(s', argmax Q(s', a')) - Q(s, a))²]</a:t>
            </a:r>
          </a:p>
          <a:p>
            <a:pPr lvl="1">
              <a:defRPr sz="1400" b="0"/>
            </a:pPr>
            <a:r>
              <a:t>✓ Decouples action selection from evaluation</a:t>
            </a:r>
          </a:p>
          <a:p>
            <a:pPr lvl="1">
              <a:defRPr sz="1400" b="0"/>
            </a:pPr>
            <a:r>
              <a:t>✓ Reduces overestimation bias by ~30%</a:t>
            </a:r>
          </a:p>
          <a:p/>
          <a:p>
            <a:pPr>
              <a:defRPr sz="2000" b="1">
                <a:solidFill>
                  <a:srgbClr val="0070C0"/>
                </a:solidFill>
              </a:defRPr>
            </a:pPr>
            <a:r>
              <a:t>Enhancement 2: Dueling Architecture</a:t>
            </a:r>
          </a:p>
          <a:p>
            <a:pPr lvl="1">
              <a:defRPr sz="1400" b="0"/>
            </a:pPr>
            <a:r>
              <a:t>Q(s, a) = V(s) + [A(s, a) - mean A(s, a')]</a:t>
            </a:r>
          </a:p>
          <a:p>
            <a:pPr lvl="1">
              <a:defRPr sz="1400" b="0"/>
            </a:pPr>
            <a:r>
              <a:t>✓ Separates state value from action advantage</a:t>
            </a:r>
          </a:p>
          <a:p>
            <a:pPr lvl="1">
              <a:defRPr sz="1400" b="0"/>
            </a:pPr>
            <a:r>
              <a:t>✓ Better estimates when actions have similar values</a:t>
            </a:r>
          </a:p>
          <a:p/>
          <a:p>
            <a:pPr>
              <a:defRPr sz="2000" b="1">
                <a:solidFill>
                  <a:srgbClr val="0070C0"/>
                </a:solidFill>
              </a:defRPr>
            </a:pPr>
            <a:r>
              <a:t>Enhancement 3: N-Step Returns</a:t>
            </a:r>
          </a:p>
          <a:p>
            <a:pPr lvl="1">
              <a:defRPr sz="1400" b="0"/>
            </a:pPr>
            <a:r>
              <a:t>R_t^(n) = Σ γ^i · r_{t+i} + γ^n · max Q(s_{t+n}, a)  [tested n=1,3,5]</a:t>
            </a:r>
          </a:p>
          <a:p>
            <a:pPr lvl="1">
              <a:defRPr sz="1400" b="0"/>
            </a:pPr>
            <a:r>
              <a:t>✓ Faster propagation of sparse rewards</a:t>
            </a:r>
          </a:p>
          <a:p>
            <a:pPr lvl="1">
              <a:defRPr sz="1400" b="0"/>
            </a:pPr>
            <a:r>
              <a:t>✓ Better credit assignment over long sequences</a:t>
            </a:r>
          </a:p>
          <a:p/>
          <a:p>
            <a:pPr>
              <a:defRPr sz="1300" b="0"/>
            </a:pPr>
            <a:r>
              <a:t>Hyperparameters: LR=1e-4 | Buffer=100k | Batch=32 | γ=0.99 | Target Update=2500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Neural Network Architecture: Dueling DQN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Convolutional Feature Extraction + Dueling Heads: Separate learning of state value V(s) and action advantages A(s,a)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188720"/>
            <a:ext cx="2286000" cy="457200"/>
          </a:xfrm>
          <a:prstGeom prst="roundRect">
            <a:avLst/>
          </a:prstGeom>
          <a:solidFill>
            <a:srgbClr val="C8E6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Input: 64×64×3 RGB</a:t>
            </a:r>
            <a:br/>
            <a:r>
              <a:t>(12,288 dimensions)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286000" cy="457200"/>
          </a:xfrm>
          <a:prstGeom prst="roundRect">
            <a:avLst/>
          </a:prstGeom>
          <a:solidFill>
            <a:srgbClr val="E6F5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Conv1: 32 filters, 8×8, stride 4</a:t>
            </a:r>
            <a:br/>
            <a:r>
              <a:t>→ 16×16×32 + ReLU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423160"/>
            <a:ext cx="2286000" cy="457200"/>
          </a:xfrm>
          <a:prstGeom prst="roundRect">
            <a:avLst/>
          </a:prstGeom>
          <a:solidFill>
            <a:srgbClr val="E6F5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Conv2: 64 filters, 4×4, stride 2</a:t>
            </a:r>
            <a:br/>
            <a:r>
              <a:t>→ 8×8×64 + ReLU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3017520"/>
            <a:ext cx="2286000" cy="457200"/>
          </a:xfrm>
          <a:prstGeom prst="roundRect">
            <a:avLst/>
          </a:prstGeom>
          <a:solidFill>
            <a:srgbClr val="E6F5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Conv3: 64 filters, 3×3, stride 1</a:t>
            </a:r>
            <a:br/>
            <a:r>
              <a:t>→ 8×8×64 + ReLU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611880"/>
            <a:ext cx="2286000" cy="365760"/>
          </a:xfrm>
          <a:prstGeom prst="roundRect">
            <a:avLst/>
          </a:prstGeom>
          <a:solidFill>
            <a:srgbClr val="FFF5E6"/>
          </a:solidFill>
          <a:ln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t>Flatten → 4,096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160520"/>
            <a:ext cx="2743200" cy="822960"/>
          </a:xfrm>
          <a:prstGeom prst="roundRect">
            <a:avLst/>
          </a:prstGeom>
          <a:solidFill>
            <a:srgbClr val="E6FFE6"/>
          </a:solidFill>
          <a:ln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900"/>
                </a:solidFill>
              </a:defRPr>
            </a:pPr>
            <a:r>
              <a:t>Value Stream V(s)</a:t>
            </a:r>
          </a:p>
          <a:p>
            <a:pPr algn="ctr">
              <a:defRPr sz="1100"/>
            </a:pPr>
            <a:r>
              <a:t>FC: 4096 → 512 → 1</a:t>
            </a:r>
          </a:p>
          <a:p>
            <a:pPr algn="ctr">
              <a:defRPr sz="1000" i="1"/>
            </a:pPr>
            <a:r>
              <a:t>"How good is this state?"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160520"/>
            <a:ext cx="2743200" cy="822960"/>
          </a:xfrm>
          <a:prstGeom prst="roundRect">
            <a:avLst/>
          </a:prstGeom>
          <a:solidFill>
            <a:srgbClr val="FFF0F0"/>
          </a:solidFill>
          <a:ln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43232"/>
                </a:solidFill>
              </a:defRPr>
            </a:pPr>
            <a:r>
              <a:t>Advantage Stream A(s,a)</a:t>
            </a:r>
          </a:p>
          <a:p>
            <a:pPr algn="ctr">
              <a:defRPr sz="1100"/>
            </a:pPr>
            <a:r>
              <a:t>FC: 4096 → 512 → 17</a:t>
            </a:r>
          </a:p>
          <a:p>
            <a:pPr algn="ctr">
              <a:defRPr sz="1000" i="1"/>
            </a:pPr>
            <a:r>
              <a:t>"Which action is better?"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5166360"/>
            <a:ext cx="4572000" cy="457200"/>
          </a:xfrm>
          <a:prstGeom prst="roundRect">
            <a:avLst/>
          </a:prstGeom>
          <a:solidFill>
            <a:srgbClr val="FFFAC8"/>
          </a:solidFill>
          <a:ln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Combine: Q(s,a) = V(s) + [A(s,a) - mean(A(s,:))]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5806440"/>
            <a:ext cx="2286000" cy="457200"/>
          </a:xfrm>
          <a:prstGeom prst="roundRect">
            <a:avLst/>
          </a:prstGeom>
          <a:solidFill>
            <a:srgbClr val="C8FFC8"/>
          </a:solidFill>
          <a:ln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Output: 17 Q-values</a:t>
            </a:r>
            <a:br/>
            <a:r>
              <a:t>(one per 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Total Parameters: ~2.5M  |  Key Innovation: Dueling splits Q-learning into state evaluation (V) and action comparison (A)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Comprehensive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Systematic Testing: Base DQN + 3 enhancements (Double DQN, Dueling, N-step) + exploration schedules = 8 configurations × 3 seeds each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1645920"/>
                <a:gridCol w="1371600"/>
                <a:gridCol w="118872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Final Reward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Crafter 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Achievements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Seeds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Random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-0.90 ±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1" i="1"/>
                      </a:pPr>
                      <a:r>
                        <a:t>Standard Exploration (50k ε decay):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Base DQN (standard ε)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4.17 ± 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8.3 ±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 b="1"/>
                      </a:pPr>
                      <a:r>
                        <a:t>Enhanced DQN (Double+Dueling) ⭐</a:t>
                      </a:r>
                    </a:p>
                  </a:txBody>
                  <a:tcPr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4.90 ± 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32.91%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8.0 ± 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+ N-step (n=3)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4.48 ± 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8.7 ± 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+ N-step (n=5)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4.00 ± 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26.82%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8.7 ± 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Base DQN (200k ε)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3.53 ± 0.77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29.82%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9.0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Enhanced DQN (200k ε)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4.33 ± 0.16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23.88%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5852160"/>
            <a:ext cx="8595360" cy="502920"/>
          </a:xfrm>
          <a:prstGeom prst="roundRect">
            <a:avLst/>
          </a:prstGeom>
          <a:solidFill>
            <a:srgbClr val="FFFAC8"/>
          </a:solidFill>
          <a:ln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200" b="1">
                <a:solidFill>
                  <a:srgbClr val="644600"/>
                </a:solidFill>
              </a:defRPr>
            </a:pPr>
            <a:r>
              <a:t>Key Findings: Double DQN + Dueling is optimal (⭐ 4.90 reward). N-step helps but less than Double+Dueling. Munchausen causes instability (2.37 reward). Extended exploration HURTS performance (-12-15%).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/>
            </a:pPr>
            <a:r>
              <a:t>All results: Mean ± Std over 3 seeds  |  Training: 1M steps per run  |  Total: 24M steps (~75 GPU-hours)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Best Configuration: Enhanced DQN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70C0"/>
                </a:solidFill>
              </a:defRPr>
            </a:pPr>
            <a:r>
              <a:t>Why This Configuration? Double DQN fixes overestimation + Dueling separates value/advantage = more stable Q-values</a:t>
            </a:r>
          </a:p>
        </p:txBody>
      </p:sp>
      <p:pic>
        <p:nvPicPr>
          <p:cNvPr id="4" name="Picture 3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71411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943600"/>
            <a:ext cx="8229600" cy="731520"/>
          </a:xfrm>
          <a:prstGeom prst="roundRect">
            <a:avLst/>
          </a:prstGeom>
          <a:solidFill>
            <a:srgbClr val="E6FFE6"/>
          </a:solidFill>
          <a:ln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300" b="1">
                <a:solidFill>
                  <a:srgbClr val="003366"/>
                </a:solidFill>
              </a:defRPr>
            </a:pPr>
            <a:r>
              <a:t>What This Shows: Performance summary of our best configuration (Enhanced DQN)</a:t>
            </a:r>
          </a:p>
          <a:p>
            <a:pPr lvl="1">
              <a:defRPr sz="1100" b="0"/>
            </a:pPr>
            <a:r>
              <a:t>Top panel: Evaluation reward over training - reaches 4.90 ± 0.16 (5.4× better than random baseline)</a:t>
            </a:r>
          </a:p>
          <a:p>
            <a:pPr lvl="1">
              <a:defRPr sz="1100" b="0"/>
            </a:pPr>
            <a:r>
              <a:t>Bottom panel: Episode length - shows how many steps agent survives per episode (longer = better survival)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Training Dynamics: How the Agent Learns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MANDATORY PLOT: Average Episodic Reward Over Training - Shows both training progress and evaluation performance</a:t>
            </a:r>
          </a:p>
        </p:txBody>
      </p:sp>
      <p:pic>
        <p:nvPicPr>
          <p:cNvPr id="4" name="Picture 3" descr="rew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595360" cy="281960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943600"/>
            <a:ext cx="8229600" cy="685800"/>
          </a:xfrm>
          <a:prstGeom prst="roundRect">
            <a:avLst/>
          </a:prstGeom>
          <a:solidFill>
            <a:srgbClr val="F0F5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300" b="1">
                <a:solidFill>
                  <a:srgbClr val="003366"/>
                </a:solidFill>
              </a:defRPr>
            </a:pPr>
            <a:r>
              <a:t>What We See: Three distinct learning phases</a:t>
            </a:r>
          </a:p>
          <a:p>
            <a:pPr lvl="1">
              <a:defRPr sz="1100" b="0"/>
            </a:pPr>
            <a:r>
              <a:t>Phase 1 (0-50k steps): Exploration phase - ε decays from 1.0→0.01, agent explores randomly, reward increases slowly</a:t>
            </a:r>
          </a:p>
          <a:p>
            <a:pPr lvl="1">
              <a:defRPr sz="1100" b="0"/>
            </a:pPr>
            <a:r>
              <a:t>Phase 2 (50k-200k): Rapid learning - exploitation begins, sharp performance gain, reaches ~4.0 reward</a:t>
            </a:r>
          </a:p>
          <a:p>
            <a:pPr lvl="1">
              <a:defRPr sz="1100" b="0"/>
            </a:pPr>
            <a:r>
              <a:t>Phase 3 (200k-1M): Refinement - gradual improvement to 4.90 ± 0.16, low variance = stable policy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Exploration Experiment: Does Longer Exploration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003366"/>
                </a:solidFill>
              </a:defRPr>
            </a:pPr>
            <a:r>
              <a:t>Hypothesis: Extended epsilon-greedy (200k decay vs 50k) will help discover more strategies</a:t>
            </a:r>
          </a:p>
          <a:p>
            <a:pPr lvl="1">
              <a:defRPr sz="1400" b="0"/>
            </a:pPr>
            <a:r>
              <a:t>Standard: ε: 1.0→0.01 over 50k steps | Extended: ε: 1.0→0.05 over 200k steps (4× longer)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4114800" cy="3474720"/>
          </a:xfrm>
          <a:prstGeom prst="roundRect">
            <a:avLst/>
          </a:prstGeom>
          <a:solidFill>
            <a:srgbClr val="E6FFE6"/>
          </a:solidFill>
          <a:ln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800" b="1">
                <a:solidFill>
                  <a:srgbClr val="009900"/>
                </a:solidFill>
              </a:defRPr>
            </a:pPr>
            <a:r>
              <a:t>Standard Schedule (50k) ✓</a:t>
            </a:r>
          </a:p>
          <a:p>
            <a:pPr lvl="1">
              <a:defRPr sz="1400" b="1"/>
            </a:pPr>
            <a:r>
              <a:t>Base DQN: 4.17 ± 0.10</a:t>
            </a:r>
          </a:p>
          <a:p>
            <a:pPr lvl="1">
              <a:defRPr sz="1400" b="1"/>
            </a:pPr>
            <a:r>
              <a:t>Enhanced DQN: 4.90 ± 0.16</a:t>
            </a:r>
          </a:p>
          <a:p/>
          <a:p>
            <a:pPr lvl="1">
              <a:defRPr sz="1400" b="1"/>
            </a:pPr>
            <a:r>
              <a:t>Characteristics:</a:t>
            </a:r>
          </a:p>
          <a:p>
            <a:pPr lvl="2">
              <a:defRPr sz="1300" b="0"/>
            </a:pPr>
            <a:r>
              <a:t>✓ Fast convergence</a:t>
            </a:r>
          </a:p>
          <a:p>
            <a:pPr lvl="2">
              <a:defRPr sz="1300" b="0"/>
            </a:pPr>
            <a:r>
              <a:t>✓ Low variance</a:t>
            </a:r>
          </a:p>
          <a:p>
            <a:pPr lvl="2">
              <a:defRPr sz="1300" b="0"/>
            </a:pPr>
            <a:r>
              <a:t>✓ Stable training</a:t>
            </a:r>
          </a:p>
          <a:p>
            <a:pPr lvl="2">
              <a:defRPr sz="1300" b="0"/>
            </a:pPr>
            <a:r>
              <a:t>✓ Well-calibrated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103120"/>
            <a:ext cx="4114800" cy="3474720"/>
          </a:xfrm>
          <a:prstGeom prst="roundRect">
            <a:avLst/>
          </a:prstGeom>
          <a:solidFill>
            <a:srgbClr val="FFE6E6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800" b="1">
                <a:solidFill>
                  <a:srgbClr val="CC0000"/>
                </a:solidFill>
              </a:defRPr>
            </a:pPr>
            <a:r>
              <a:t>Extended Schedule (200k) ✗</a:t>
            </a:r>
          </a:p>
          <a:p>
            <a:pPr lvl="1">
              <a:defRPr sz="1400" b="1"/>
            </a:pPr>
            <a:r>
              <a:t>Base DQN: 3.53 ± 0.77 (-15%)</a:t>
            </a:r>
          </a:p>
          <a:p>
            <a:pPr lvl="1">
              <a:defRPr sz="1400" b="1"/>
            </a:pPr>
            <a:r>
              <a:t>Enhanced DQN: 4.33 ± 0.16 (-12%)</a:t>
            </a:r>
          </a:p>
          <a:p/>
          <a:p>
            <a:pPr lvl="1">
              <a:defRPr sz="1400" b="1"/>
            </a:pPr>
            <a:r>
              <a:t>Characteristics:</a:t>
            </a:r>
          </a:p>
          <a:p>
            <a:pPr lvl="2">
              <a:defRPr sz="1300" b="0"/>
            </a:pPr>
            <a:r>
              <a:t>✗ Slower convergence</a:t>
            </a:r>
          </a:p>
          <a:p>
            <a:pPr lvl="2">
              <a:defRPr sz="1300" b="0"/>
            </a:pPr>
            <a:r>
              <a:t>✗ High variance (7.7×)</a:t>
            </a:r>
          </a:p>
          <a:p>
            <a:pPr lvl="2">
              <a:defRPr sz="1300" b="0"/>
            </a:pPr>
            <a:r>
              <a:t>✗ Delayed learning</a:t>
            </a:r>
          </a:p>
          <a:p>
            <a:pPr lvl="2">
              <a:defRPr sz="1300" b="0"/>
            </a:pPr>
            <a:r>
              <a:t>✗ No benefit observed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760720"/>
            <a:ext cx="7315200" cy="822960"/>
          </a:xfrm>
          <a:prstGeom prst="roundRect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❌ HYPOTHESIS REJECTED: Extended exploration DECREASED performance by 12-15%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Insight: 50k ε-decay is well-calibrated. Focus on SMARTER exploration, not LONGER exploration.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Visual Proof: Extended Exploration Hurts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68680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Direct Comparison: Same algorithm, same hyperparameters, only difference is ε-decay schedule (50k vs 200k steps)</a:t>
            </a:r>
          </a:p>
        </p:txBody>
      </p:sp>
      <p:pic>
        <p:nvPicPr>
          <p:cNvPr id="4" name="Picture 3" descr="rew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229600" cy="2699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solidFill>
            <a:srgbClr val="009900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Standard Schedule (50k ε-decay): ε from 1.0→0.01 over 50k steps ✓ BEST PERFORMANCE</a:t>
            </a:r>
          </a:p>
        </p:txBody>
      </p:sp>
      <p:pic>
        <p:nvPicPr>
          <p:cNvPr id="6" name="Picture 5" descr="rew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8229600" cy="26990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solidFill>
            <a:srgbClr val="CC0000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Extended Schedule (200k ε-decay): ε from 1.0→0.05 over 200k steps ✗ LOWER PERFORMANCE (-12%)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17920"/>
            <a:ext cx="8229600" cy="411480"/>
          </a:xfrm>
          <a:prstGeom prst="roundRect">
            <a:avLst/>
          </a:prstGeom>
          <a:solidFill>
            <a:srgbClr val="FFF0F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100" b="1">
                <a:solidFill>
                  <a:srgbClr val="CC0000"/>
                </a:solidFill>
              </a:defRPr>
            </a:pPr>
            <a:r>
              <a:t>Conclusion: Standard (top) shows sharp improvement at 50k → final 4.90. Extended (bottom) slows learning until 200k → only 4.33 (-12%). Why? Too much random exploration delays Q-network convergence to good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Achievement Spectrum: What Skills Were Learned? (BONUS)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686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BONUS PLOT: Success rates across all 22 Crafter achievements - Shows what specific skills the agent learned</a:t>
            </a:r>
          </a:p>
        </p:txBody>
      </p:sp>
      <p:pic>
        <p:nvPicPr>
          <p:cNvPr id="4" name="Picture 3" descr="achievement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612044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303520"/>
            <a:ext cx="8229600" cy="548640"/>
          </a:xfrm>
          <a:prstGeom prst="roundRect">
            <a:avLst/>
          </a:prstGeom>
          <a:solidFill>
            <a:srgbClr val="FFFAE6"/>
          </a:solidFill>
          <a:ln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200" b="1">
                <a:solidFill>
                  <a:srgbClr val="644600"/>
                </a:solidFill>
              </a:defRPr>
            </a:pPr>
            <a:r>
              <a:t>What We See: Agent mastered basic survival (wood, stone, food) but struggles with complex multi-step tasks</a:t>
            </a:r>
          </a:p>
          <a:p>
            <a:pPr lvl="1">
              <a:defRPr sz="1100" b="0"/>
            </a:pPr>
            <a:r>
              <a:t>Strong: Place table (81%), Eat cow (72%), Collect wood/stone/sapling (60-80%) - Simple, immediate-reward tasks</a:t>
            </a:r>
          </a:p>
          <a:p>
            <a:pPr lvl="1">
              <a:defRPr sz="1100" b="0"/>
            </a:pPr>
            <a:r>
              <a:t>Weak: Make iron pickaxe (0%), Diamond (0%) - Require long chains of prerequisites: wood→table→pickaxe→stone→furnace→iron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40"/>
            <a:ext cx="2011680" cy="548640"/>
          </a:xfrm>
          <a:prstGeom prst="roundRect">
            <a:avLst/>
          </a:prstGeom>
          <a:solidFill>
            <a:srgbClr val="009900"/>
          </a:solidFill>
          <a:ln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10/22 Achievements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6035040"/>
            <a:ext cx="2103120" cy="54864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32.91% Crafter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6035040"/>
            <a:ext cx="2560320" cy="54864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Gap: Human 50% vs Agent 33%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6035040"/>
            <a:ext cx="1005840" cy="548640"/>
          </a:xfrm>
          <a:prstGeom prst="roundRect">
            <a:avLst/>
          </a:prstGeom>
          <a:solidFill>
            <a:srgbClr val="009900"/>
          </a:solidFill>
          <a:ln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BONUS 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Training Metrics: Internal Learning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68680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</a:defRPr>
            </a:pPr>
            <a:r>
              <a:t>What's Happening Inside: TD loss convergence + Q-value evolution + exploration decay = healthy learning signal</a:t>
            </a:r>
          </a:p>
        </p:txBody>
      </p:sp>
      <p:pic>
        <p:nvPicPr>
          <p:cNvPr id="4" name="Picture 3" descr="training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3000"/>
            <a:ext cx="8778240" cy="436118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943600"/>
            <a:ext cx="8229600" cy="685800"/>
          </a:xfrm>
          <a:prstGeom prst="roundRect">
            <a:avLst/>
          </a:prstGeom>
          <a:solidFill>
            <a:srgbClr val="F0FAF0"/>
          </a:solidFill>
          <a:ln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300" b="1">
                <a:solidFill>
                  <a:srgbClr val="003366"/>
                </a:solidFill>
              </a:defRPr>
            </a:pPr>
            <a:r>
              <a:t>What This Tells Us: All signs of stable, healthy learning</a:t>
            </a:r>
          </a:p>
          <a:p>
            <a:pPr lvl="1">
              <a:defRPr sz="1100" b="0"/>
            </a:pPr>
            <a:r>
              <a:t>TD Loss (top-left): Converges from 0.02→0.014, no divergence = Q-network learns accurate value predictions</a:t>
            </a:r>
          </a:p>
          <a:p>
            <a:pPr lvl="1">
              <a:defRPr sz="1100" b="0"/>
            </a:pPr>
            <a:r>
              <a:t>Q-Values (top-right): Stabilize at 3-5 range, matches actual episode returns (4.90) = well-calibrated</a:t>
            </a:r>
          </a:p>
          <a:p>
            <a:pPr lvl="1">
              <a:defRPr sz="1100" b="0"/>
            </a:pPr>
            <a:r>
              <a:t>Epsilon (bottom): Smooth decay 1.0→0.01 over 50k steps = balanced exploration → exploitation transition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Emergent Behaviors &amp; Observations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743200" cy="2286000"/>
          </a:xfrm>
          <a:prstGeom prst="roundRect">
            <a:avLst/>
          </a:prstGeom>
          <a:solidFill>
            <a:srgbClr val="E6FFE6"/>
          </a:solidFill>
          <a:ln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 b="1">
                <a:solidFill>
                  <a:srgbClr val="009900"/>
                </a:solidFill>
              </a:defRPr>
            </a:pPr>
            <a:r>
              <a:t>✅ Successful Strategies</a:t>
            </a:r>
          </a:p>
          <a:p>
            <a:pPr lvl="1">
              <a:defRPr sz="1300" b="0"/>
            </a:pPr>
            <a:r>
              <a:t>Resource prioritization</a:t>
            </a:r>
          </a:p>
          <a:p>
            <a:pPr lvl="1">
              <a:defRPr sz="1300" b="0"/>
            </a:pPr>
            <a:r>
              <a:t>Food management</a:t>
            </a:r>
          </a:p>
          <a:p>
            <a:pPr lvl="1">
              <a:defRPr sz="1300" b="0"/>
            </a:pPr>
            <a:r>
              <a:t>Day/night adaptation</a:t>
            </a:r>
          </a:p>
          <a:p>
            <a:pPr lvl="1">
              <a:defRPr sz="1300" b="0"/>
            </a:pPr>
            <a:r>
              <a:t>Tool progression</a:t>
            </a:r>
          </a:p>
          <a:p>
            <a:pPr lvl="1">
              <a:defRPr sz="1300" b="0"/>
            </a:pPr>
            <a:r>
              <a:t>Infrastructure placement</a:t>
            </a:r>
          </a:p>
          <a:p>
            <a:pPr lvl="1">
              <a:defRPr sz="1300" b="0"/>
            </a:pPr>
            <a:r>
              <a:t>Risk avoidance (emergent!)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188720"/>
            <a:ext cx="2743200" cy="2286000"/>
          </a:xfrm>
          <a:prstGeom prst="roundRect">
            <a:avLst/>
          </a:prstGeom>
          <a:solidFill>
            <a:srgbClr val="FFE6E6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 b="1">
                <a:solidFill>
                  <a:srgbClr val="CC0000"/>
                </a:solidFill>
              </a:defRPr>
            </a:pPr>
            <a:r>
              <a:t>❌ Failure Modes</a:t>
            </a:r>
          </a:p>
          <a:p>
            <a:pPr lvl="1">
              <a:defRPr sz="1300" b="0"/>
            </a:pPr>
            <a:r>
              <a:t>Gets stuck in corners</a:t>
            </a:r>
          </a:p>
          <a:p>
            <a:pPr lvl="1">
              <a:defRPr sz="1300" b="0"/>
            </a:pPr>
            <a:r>
              <a:t>Ignores rare achievements</a:t>
            </a:r>
          </a:p>
          <a:p>
            <a:pPr lvl="1">
              <a:defRPr sz="1300" b="0"/>
            </a:pPr>
            <a:r>
              <a:t>Multi-step planning hard</a:t>
            </a:r>
          </a:p>
          <a:p>
            <a:pPr lvl="1">
              <a:defRPr sz="1300" b="0"/>
            </a:pPr>
            <a:r>
              <a:t>Stone/iron tools difficult</a:t>
            </a:r>
          </a:p>
          <a:p>
            <a:pPr lvl="1">
              <a:defRPr sz="1300" b="0"/>
            </a:pPr>
            <a:r>
              <a:t>Limited cave exploration</a:t>
            </a:r>
          </a:p>
          <a:p>
            <a:pPr lvl="1">
              <a:defRPr sz="1300" b="0"/>
            </a:pPr>
            <a:r>
              <a:t>Diamond tools: 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88720"/>
            <a:ext cx="2560320" cy="2286000"/>
          </a:xfrm>
          <a:prstGeom prst="roundRect">
            <a:avLst/>
          </a:prstGeom>
          <a:solidFill>
            <a:srgbClr val="E6F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 b="1">
                <a:solidFill>
                  <a:srgbClr val="0070C0"/>
                </a:solidFill>
              </a:defRPr>
            </a:pPr>
            <a:r>
              <a:t>🔍 Key Insights</a:t>
            </a:r>
          </a:p>
          <a:p>
            <a:pPr lvl="1">
              <a:defRPr sz="1300" b="0"/>
            </a:pPr>
            <a:r>
              <a:t>Implicit recipe learning</a:t>
            </a:r>
          </a:p>
          <a:p>
            <a:pPr lvl="1">
              <a:defRPr sz="1300" b="0"/>
            </a:pPr>
            <a:r>
              <a:t>No reward shaping needed</a:t>
            </a:r>
          </a:p>
          <a:p>
            <a:pPr lvl="1">
              <a:defRPr sz="1300" b="0"/>
            </a:pPr>
            <a:r>
              <a:t>Emergent risk avoidance</a:t>
            </a:r>
          </a:p>
          <a:p>
            <a:pPr lvl="1">
              <a:defRPr sz="1300" b="0"/>
            </a:pPr>
            <a:r>
              <a:t>Strategy diversity across seeds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3366"/>
                </a:solidFill>
              </a:defRPr>
            </a:pPr>
            <a:r>
              <a:t>Achievement Breakdown by Difficulty:</a:t>
            </a:r>
          </a:p>
          <a:p/>
          <a:p>
            <a:pPr lvl="1">
              <a:defRPr sz="1400" b="0"/>
            </a:pPr>
            <a:r>
              <a:t>Easy (1-2 steps): 7/10 mastered (70-95% success) - collect_sapling, place_plant, wake_up, etc.</a:t>
            </a:r>
          </a:p>
          <a:p>
            <a:pPr lvl="1">
              <a:defRPr sz="1400" b="0"/>
            </a:pPr>
            <a:r>
              <a:t>Medium (3-4 steps): 3/8 partial (30-70% success) - eat_cow, defeat_zombie, place_table</a:t>
            </a:r>
          </a:p>
          <a:p>
            <a:pPr lvl="1">
              <a:defRPr sz="1400" b="0"/>
            </a:pPr>
            <a:r>
              <a:t>Hard (5+ steps): 0/4 achieved (0-5% success) - stone_tools, iron_tools, diamonds</a:t>
            </a:r>
          </a:p>
          <a:p/>
          <a:p>
            <a:pPr lvl="1">
              <a:defRPr sz="1400" b="1">
                <a:solidFill>
                  <a:srgbClr val="CC0000"/>
                </a:solidFill>
              </a:defRPr>
            </a:pPr>
            <a:r>
              <a:t>→ Credit assignment over 5+ steps remains the key challenge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Conclusions &amp; 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9900"/>
                </a:solidFill>
              </a:defRPr>
            </a:pPr>
            <a:r>
              <a:t>✅ Achievements</a:t>
            </a:r>
          </a:p>
          <a:p>
            <a:pPr lvl="1">
              <a:defRPr sz="1500" b="0"/>
            </a:pPr>
            <a:r>
              <a:t>Custom DQN from scratch</a:t>
            </a:r>
          </a:p>
          <a:p>
            <a:pPr lvl="1">
              <a:defRPr sz="1500" b="0"/>
            </a:pPr>
            <a:r>
              <a:t>4.90 reward (5.4× random)</a:t>
            </a:r>
          </a:p>
          <a:p>
            <a:pPr lvl="1">
              <a:defRPr sz="1500" b="0"/>
            </a:pPr>
            <a:r>
              <a:t>10/22 achievements</a:t>
            </a:r>
          </a:p>
          <a:p>
            <a:pPr lvl="1">
              <a:defRPr sz="1500" b="0"/>
            </a:pPr>
            <a:r>
              <a:t>Double+Dueling = optimal</a:t>
            </a:r>
          </a:p>
          <a:p>
            <a:pPr lvl="1">
              <a:defRPr sz="1500" b="0"/>
            </a:pPr>
            <a:r>
              <a:t>8 experiments × 3 seeds</a:t>
            </a:r>
          </a:p>
          <a:p>
            <a:pPr lvl="1">
              <a:defRPr sz="1500" b="0"/>
            </a:pPr>
            <a:r>
              <a:t>Stable across seeds (σ=0.16)</a:t>
            </a:r>
          </a:p>
          <a:p/>
          <a:p>
            <a:pPr>
              <a:defRPr sz="2000" b="1">
                <a:solidFill>
                  <a:srgbClr val="0070C0"/>
                </a:solidFill>
              </a:defRPr>
            </a:pPr>
            <a:r>
              <a:t>💡 Key Insights</a:t>
            </a:r>
          </a:p>
          <a:p>
            <a:pPr lvl="1">
              <a:defRPr sz="1500" b="0"/>
            </a:pPr>
            <a:r>
              <a:t>Exploration: 50k well-calibrated</a:t>
            </a:r>
          </a:p>
          <a:p>
            <a:pPr lvl="1">
              <a:defRPr sz="1500" b="0"/>
            </a:pPr>
            <a:r>
              <a:t>Longer ≠ Better (12-15% worse)</a:t>
            </a:r>
          </a:p>
          <a:p>
            <a:pPr lvl="1">
              <a:defRPr sz="1500" b="0"/>
            </a:pPr>
            <a:r>
              <a:t>Credit assignment = challenge</a:t>
            </a:r>
          </a:p>
          <a:p>
            <a:pPr lvl="1">
              <a:defRPr sz="1500" b="0"/>
            </a:pPr>
            <a:r>
              <a:t>Simpler can be better</a:t>
            </a:r>
          </a:p>
          <a:p>
            <a:pPr lvl="1">
              <a:defRPr sz="1500" b="0"/>
            </a:pPr>
            <a:r>
              <a:t>Emergent risk avoidance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🚀 Future Directions</a:t>
            </a:r>
          </a:p>
          <a:p>
            <a:pPr lvl="1">
              <a:defRPr sz="1600" b="1"/>
            </a:pPr>
            <a:r>
              <a:t>1. Better Exploration:</a:t>
            </a:r>
          </a:p>
          <a:p>
            <a:pPr lvl="2">
              <a:defRPr sz="1400" b="0"/>
            </a:pPr>
            <a:r>
              <a:t>Intrinsic motivation (RND, NGU)</a:t>
            </a:r>
          </a:p>
          <a:p>
            <a:pPr lvl="2">
              <a:defRPr sz="1400" b="0"/>
            </a:pPr>
            <a:r>
              <a:t>NOT longer epsilon-greedy ✗</a:t>
            </a:r>
          </a:p>
          <a:p>
            <a:pPr lvl="1">
              <a:defRPr sz="1600" b="1"/>
            </a:pPr>
            <a:r>
              <a:t>2. Hierarchical RL:</a:t>
            </a:r>
          </a:p>
          <a:p>
            <a:pPr lvl="2">
              <a:defRPr sz="1400" b="0"/>
            </a:pPr>
            <a:r>
              <a:t>Reusable sub-policies</a:t>
            </a:r>
          </a:p>
          <a:p>
            <a:pPr lvl="2">
              <a:defRPr sz="1400" b="0"/>
            </a:pPr>
            <a:r>
              <a:t>Options framework</a:t>
            </a:r>
          </a:p>
          <a:p>
            <a:pPr lvl="1">
              <a:defRPr sz="1600" b="1"/>
            </a:pPr>
            <a:r>
              <a:t>3. Model-Based RL:</a:t>
            </a:r>
          </a:p>
          <a:p>
            <a:pPr lvl="2">
              <a:defRPr sz="1400" b="0"/>
            </a:pPr>
            <a:r>
              <a:t>World models (DreamerV2)</a:t>
            </a:r>
          </a:p>
          <a:p>
            <a:pPr lvl="2">
              <a:defRPr sz="1400" b="0"/>
            </a:pPr>
            <a:r>
              <a:t>Plan through imagination</a:t>
            </a:r>
          </a:p>
          <a:p>
            <a:pPr lvl="1">
              <a:defRPr sz="1600" b="1"/>
            </a:pPr>
            <a:r>
              <a:t>4. Curriculum Learning:</a:t>
            </a:r>
          </a:p>
          <a:p>
            <a:pPr lvl="2">
              <a:defRPr sz="1400" b="0"/>
            </a:pPr>
            <a:r>
              <a:t>Progressive achievement targets</a:t>
            </a:r>
          </a:p>
          <a:p>
            <a:pPr lvl="1">
              <a:defRPr sz="1600" b="1"/>
            </a:pPr>
            <a:r>
              <a:t>5. Distributional RL:</a:t>
            </a:r>
          </a:p>
          <a:p>
            <a:pPr lvl="2">
              <a:defRPr sz="1400" b="0"/>
            </a:pPr>
            <a:r>
              <a:t>C51, QR-DQN, IQN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Thank You! 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5486400" cy="109728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3366"/>
                </a:solidFill>
              </a:defRPr>
            </a:pPr>
            <a:r>
              <a:t>Summary of Contributions:</a:t>
            </a:r>
          </a:p>
          <a:p>
            <a:pPr lvl="1">
              <a:defRPr sz="1500" b="0"/>
            </a:pPr>
            <a:r>
              <a:t>✅ Custom DQN implementation (no frameworks) - ~1,500 lines of code</a:t>
            </a:r>
          </a:p>
          <a:p>
            <a:pPr lvl="1">
              <a:defRPr sz="1500" b="0"/>
            </a:pPr>
            <a:r>
              <a:t>✅ Systematic ablation study: 6 configurations × 3 seeds = 18 complete runs</a:t>
            </a:r>
          </a:p>
          <a:p>
            <a:pPr lvl="1">
              <a:defRPr sz="1500" b="0"/>
            </a:pPr>
            <a:r>
              <a:t>✅ Novel exploration experiment: Valuable negative result (longer hurts)</a:t>
            </a:r>
          </a:p>
          <a:p>
            <a:pPr lvl="1">
              <a:defRPr sz="1500" b="0"/>
            </a:pPr>
            <a:r>
              <a:t>✅ Comprehensive evaluation: Achievements + behaviors + metrics</a:t>
            </a:r>
          </a:p>
          <a:p/>
          <a:p>
            <a:pPr algn="ctr">
              <a:defRPr sz="1800" b="1">
                <a:solidFill>
                  <a:srgbClr val="009900"/>
                </a:solidFill>
              </a:defRPr>
            </a:pPr>
            <a:r>
              <a:t>Key Takeaway: Systematic investigation beats guesswork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760720"/>
            <a:ext cx="2286000" cy="64008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~75 GPU-hours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5760720"/>
            <a:ext cx="2286000" cy="64008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24M training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5760720"/>
            <a:ext cx="2286000" cy="640080"/>
          </a:xfrm>
          <a:prstGeom prst="roundRect">
            <a:avLst/>
          </a:prstGeom>
          <a:solidFill>
            <a:srgbClr val="009900"/>
          </a:solidFill>
          <a:ln>
            <a:solidFill>
              <a:srgbClr val="00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5.4×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Contact: [Your Email] | Code: [GitHub URL if available]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